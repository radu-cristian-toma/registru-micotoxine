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ere" id="{4cd67a48-f8b4-7baf-7b56-883925d4a04d}">
          <p14:sldIdLst>
            <p14:sldId id="256"/>
            <p14:sldId id="257"/>
            <p14:sldId id="258"/>
          </p14:sldIdLst>
        </p14:section>
        <p14:section name="Aplicația" id="{fa26f7d6-0921-b272-11e0-d5102fb577e0}">
          <p14:sldIdLst>
            <p14:sldId id="259"/>
            <p14:sldId id="260"/>
            <p14:sldId id="261"/>
          </p14:sldIdLst>
        </p14:section>
        <p14:section name="Decizie și integritate" id="{9b177760-b742-8689-f061-850b1b3a488d}">
          <p14:sldIdLst>
            <p14:sldId id="262"/>
            <p14:sldId id="263"/>
            <p14:sldId id="264"/>
            <p14:sldId id="265"/>
          </p14:sldIdLst>
        </p14:section>
        <p14:section name="Distribuție și limite" id="{3fc8b5d8-919d-165a-93dd-0acdf2a949ec}">
          <p14:sldIdLst>
            <p14:sldId id="266"/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Deschidere: ce este aplicația, cine o dezvoltă, în ce stadiu se află. Subliniați de la început: pilot, date inventate în demonstrație, fără pretenție de validare sau acreditare.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Formulați întrebarea de cercetare și limitați pretențiile: sistemul declară ce acoperă (N0–N2) și ce nu (N3).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Textul regulamentelor a fost verificat pe sursa oficială (EUR-Lex); limitele din aplicație trebuie reconfirmate de fiecare laborator înainte de decizii reale.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Parcurgeți cei șase pași. Accentul: pasul 6 este diferit, beneficiarul nu vede verdictul preliminar.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Observația O1 din evaluarea în browser: un verdict preliminar vizibil înainte de validare. A fost rezolvată în v1.54.0 și este testată automat.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Arătați formularul în demo: câmpurile pentru recuperare, incertitudine și LOQ sunt introduse de laborator din validarea metodei; aplicația nu propune valori.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Regula implementată în nucleul de decizie: dacă valoarea efectivă nu depășește limita, conform; dacă o depășește și valoarea minus incertitudinea absolută o depășește, neconform; altfel, în limita incertitudinii. Exemplul este ilustrativ.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Decizia de lot urmează Reg. (UE) 2023/2782, anexa I, partea II. Aplicația oferă mecanismul; alegerea modului pe produs este a laboratorului.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Modelul de amenințare este cel din documentația proiectului. Subliniați limita N3 și faptul că lanțul de amprente nu rezolvă singur un atacator cu control asupra aplicației.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Demonstrație posibilă: scanați codul QR dintr-un buletin demo. Cele trei capturi sunt din instanța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Fiți direct: securizarea este una de bază pentru pilot în rețea internă, nu pentru expunere pe internet.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Pachetul Docker conține aplicația și un proxy HTTPS (Caddy). Există și o instanță de demonstrație cu date inventate. Titularul drepturilor de autor și contactul de securitate sunt de completat.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Aceasta este diapozitivul de onestitate științifică. Evaluările lipsă sunt scopul pilotului.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Încheiere: invitație la pilot și la feedback. Completați contactul și adresa depozitului înainte de workshop.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U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INU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Registru Micotoxine · v1.55.0 · pilot, nevalidat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7373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Registru Micotoxine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92608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Un LIMS deschis pentru laboratoarele de micotoxine: trasabilitate, decizie de conformitate și integritatea datelor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8463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Workshop · [de completat: manifestare și dată]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[de completat: autor, afiliere] · USAMV București · METROFOOD-RO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Versiunea 1.55.0 · pilot, nevalidat și neacreditat · AGPL-3.0-or-later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ce un LIMS dedicat micotoxinelor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65836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Decizia de conformitate depinde de limită, recuperare, incertitudine și regula de decizie, nu doar de o valoare măsurată.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Aflatoxinele se însumează ca limită inferioară; pentru unele produse decizia se ia pe lot, din mai multe probe.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Un buletin trebuie să poată fi verificat de terți și să rămână trasabil după corecții, retrageri sau înlocuiri.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Tabelele și registrele pe hârtie nu oferă, de regulă, versiuni cu motiv, separarea sarcinilor și detectarea modificărilor.</a:t>
            </a:r>
            <a:endParaRPr lang="en-US" sz="1600" dirty="0"/>
          </a:p>
        </p:txBody>
      </p:sp>
      <p:sp>
        <p:nvSpPr>
          <p:cNvPr id="4" name="Card Întrebarea"/>
          <p:cNvSpPr/>
          <p:nvPr/>
        </p:nvSpPr>
        <p:spPr>
          <a:xfrm>
            <a:off x="7589520" y="1463040"/>
            <a:ext cx="40233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18120" y="16459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Întrebarea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2148840"/>
            <a:ext cx="3566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Cum arată un sistem mic, deschis și verificabil care acoperă acest flux, și ce garantează el în mod realist?</a:t>
            </a:r>
            <a:endParaRPr lang="en-US" sz="1600" dirty="0"/>
          </a:p>
        </p:txBody>
      </p:sp>
      <p:sp>
        <p:nvSpPr>
          <p:cNvPr id="7" name="Card Contribuția"/>
          <p:cNvSpPr/>
          <p:nvPr/>
        </p:nvSpPr>
        <p:spPr>
          <a:xfrm>
            <a:off x="7589520" y="3886200"/>
            <a:ext cx="402336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818120" y="40690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Contribuția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818120" y="4572000"/>
            <a:ext cx="3566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Un LIMS complet cu proprietăți de integritate declarate (N0–N2), cu limitele spuse explicit, nu cu pretenția de a rezolva orice amenințare.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Cadrul în care lucrează aplicația</a:t>
            </a:r>
            <a:endParaRPr lang="en-US" sz="3400" dirty="0"/>
          </a:p>
        </p:txBody>
      </p:sp>
      <p:graphicFrame>
        <p:nvGraphicFramePr>
          <p:cNvPr id="4" name="Tabel reglementar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2104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Reg. (UE) 2023/915</a:t>
                      </a:r>
                      <a:endParaRPr lang="en-US" sz="1500" dirty="0"/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Limitele maxime pentru contaminanți (inclusiv micotoxine); laboratorul le reverifică pe versiunea consolidată curentă.</a:t>
                      </a:r>
                      <a:endParaRPr lang="en-US" sz="1500" dirty="0"/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Reg. (UE) 2023/2782</a:t>
                      </a:r>
                      <a:endParaRPr lang="en-US" sz="1500" dirty="0"/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Eșantionare și criterii de performanță ale metodelor; anexa II: recuperare, repetabilitate, corecția pentru recuperare, incertitudine extinsă (k = 2).</a:t>
                      </a:r>
                      <a:endParaRPr lang="en-US" sz="1500" dirty="0"/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ISO/IEC 17025:2017</a:t>
                      </a:r>
                      <a:endParaRPr lang="en-US" sz="1500" dirty="0"/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Grilă de proiectare pentru funcțiile software relevante; aplicația nu echivalează cu conformitatea laboratorului.</a:t>
                      </a:r>
                      <a:endParaRPr lang="en-US" sz="1500" dirty="0"/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ILAC G8</a:t>
                      </a:r>
                      <a:endParaRPr lang="en-US" sz="1500" dirty="0"/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Concepte pentru declarații de conformitate și reguli de decizie.</a:t>
                      </a:r>
                      <a:endParaRPr lang="en-US" sz="1500" dirty="0"/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ALCOA+</a:t>
                      </a:r>
                      <a:endParaRPr lang="en-US" sz="1500" dirty="0"/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Grilă practică pentru integritatea datelor.</a:t>
                      </a:r>
                      <a:endParaRPr lang="en-US" sz="1500" dirty="0"/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Fluxul unei probe: șase pași, patru roluri</a:t>
            </a:r>
            <a:endParaRPr lang="en-US" sz="3400" dirty="0"/>
          </a:p>
        </p:txBody>
      </p:sp>
      <p:sp>
        <p:nvSpPr>
          <p:cNvPr id="3" name="Pas 1"/>
          <p:cNvSpPr/>
          <p:nvPr/>
        </p:nvSpPr>
        <p:spPr>
          <a:xfrm>
            <a:off x="1051560" y="18288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156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43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Beneficiar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5468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Înregistrează proba și atestă prelevarea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28800" y="2194560"/>
            <a:ext cx="109728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8" name="Pas 2"/>
          <p:cNvSpPr/>
          <p:nvPr/>
        </p:nvSpPr>
        <p:spPr>
          <a:xfrm>
            <a:off x="2926080" y="18288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2608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2423160" y="2743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Operator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2423160" y="315468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Recepție: ambalaj, cantitate, temperatură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703320" y="2194560"/>
            <a:ext cx="109728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3" name="Pas 3"/>
          <p:cNvSpPr/>
          <p:nvPr/>
        </p:nvSpPr>
        <p:spPr>
          <a:xfrm>
            <a:off x="4800600" y="18288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0060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4297680" y="2743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Operator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297680" y="315468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Rezultate, metodă, aparat, control de calitate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577840" y="2194560"/>
            <a:ext cx="109728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8" name="Pas 4"/>
          <p:cNvSpPr/>
          <p:nvPr/>
        </p:nvSpPr>
        <p:spPr>
          <a:xfrm>
            <a:off x="6675120" y="18288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7512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4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6172200" y="2743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Validator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172200" y="315468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Revizuire independentă: aprobă sau returnează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452360" y="2194560"/>
            <a:ext cx="109728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3" name="Pas 5"/>
          <p:cNvSpPr/>
          <p:nvPr/>
        </p:nvSpPr>
        <p:spPr>
          <a:xfrm>
            <a:off x="8549640" y="18288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54964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5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8046720" y="2743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Alt validator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8046720" y="315468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Validează și emite buletinul cu cod QR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326880" y="2194560"/>
            <a:ext cx="109728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8" name="Pas 6"/>
          <p:cNvSpPr/>
          <p:nvPr/>
        </p:nvSpPr>
        <p:spPr>
          <a:xfrm>
            <a:off x="10424160" y="182880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42416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6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9921240" y="2743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Beneficiar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9921240" y="315468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Vede valorile și verdictul numai acum</a:t>
            </a:r>
            <a:endParaRPr lang="en-US" sz="1400" dirty="0"/>
          </a:p>
        </p:txBody>
      </p:sp>
      <p:sp>
        <p:nvSpPr>
          <p:cNvPr id="32" name="Card Separarea sarcinilor (implicit activă)"/>
          <p:cNvSpPr/>
          <p:nvPr/>
        </p:nvSpPr>
        <p:spPr>
          <a:xfrm>
            <a:off x="548640" y="4572000"/>
            <a:ext cx="110642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7240" y="47548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Separarea sarcinilor (implicit activă)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777240" y="525780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Cine a aprobat o probă nu o poate valida, iar administratorul nu validează rezultate. Relaxarea se face din setările de calitate și se jurnalizează.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Beneficiarul: verdictul apare numai după validare</a:t>
            </a:r>
            <a:endParaRPr lang="en-US" sz="3400" dirty="0"/>
          </a:p>
        </p:txBody>
      </p:sp>
      <p:pic>
        <p:nvPicPr>
          <p:cNvPr id="3" name="Image 0" descr="Ecranul beneficiarului pentru o probă în analiză: buletinul va fi disponibil după valida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6949440" cy="390906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7863840" y="1463040"/>
            <a:ext cx="3749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Înainte de validare: doar starea probei.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Valorile, verdictul, observațiile operatorului, jurnalul și versiunile sunt ascunse pe server, nu doar în interfață.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După validare: buletin cu cod QR, rezultate, incertitudine și regula de decizie.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4864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Captură din instanța demo (date inventate).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Operatorul: recepție și introducerea rezultatelor</a:t>
            </a:r>
            <a:endParaRPr lang="en-US" sz="3400" dirty="0"/>
          </a:p>
        </p:txBody>
      </p:sp>
      <p:pic>
        <p:nvPicPr>
          <p:cNvPr id="3" name="Image 0" descr="Pasul 1: recepția probe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5440680" cy="306324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pic>
      <p:pic>
        <p:nvPicPr>
          <p:cNvPr id="4" name="Image 1" descr="Pasul 2: rezultate, metodă, aparat și control de calita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417320"/>
            <a:ext cx="5440680" cy="306324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pic>
      <p:sp>
        <p:nvSpPr>
          <p:cNvPr id="5" name="Text 1"/>
          <p:cNvSpPr txBox="1"/>
          <p:nvPr/>
        </p:nvSpPr>
        <p:spPr>
          <a:xfrm>
            <a:off x="548640" y="470916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Probă respinsă la recepție sau returnată: rămâne vizibilă, cu motiv.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Corecția creează o versiune nouă, cu motiv obligatoriu; rezultatele sub LOQ se raportează cu „&lt;”.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Trimiterea spre validare cere calibrare valabilă și lot de reactiv neexpirat.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Decizia de conformitate cu incertitudine extinsă</a:t>
            </a:r>
            <a:endParaRPr lang="en-US" sz="3400" dirty="0"/>
          </a:p>
        </p:txBody>
      </p:sp>
      <p:sp>
        <p:nvSpPr>
          <p:cNvPr id="3" name="Card Conform"/>
          <p:cNvSpPr/>
          <p:nvPr/>
        </p:nvSpPr>
        <p:spPr>
          <a:xfrm>
            <a:off x="548640" y="1463040"/>
            <a:ext cx="356616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Conform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488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Rezultatul efectiv nu depășește limita.</a:t>
            </a:r>
            <a:endParaRPr lang="en-US" sz="1600" dirty="0"/>
          </a:p>
        </p:txBody>
      </p:sp>
      <p:sp>
        <p:nvSpPr>
          <p:cNvPr id="6" name="Card În limita incertitudinii"/>
          <p:cNvSpPr/>
          <p:nvPr/>
        </p:nvSpPr>
        <p:spPr>
          <a:xfrm>
            <a:off x="4297680" y="1463040"/>
            <a:ext cx="356616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26280" y="1645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În limita incertitudinii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21488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Rezultatul depășește limita, dar rezultatul minus U nu o depășește.</a:t>
            </a:r>
            <a:endParaRPr lang="en-US" sz="1600" dirty="0"/>
          </a:p>
        </p:txBody>
      </p:sp>
      <p:sp>
        <p:nvSpPr>
          <p:cNvPr id="9" name="Card Neconform"/>
          <p:cNvSpPr/>
          <p:nvPr/>
        </p:nvSpPr>
        <p:spPr>
          <a:xfrm>
            <a:off x="8046720" y="1463040"/>
            <a:ext cx="356616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75320" y="1645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Neconform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275320" y="21488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Rezultatul minus U depășește limita.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566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Exemplu ilustrativ, valori inventate: limită 10 µg/kg, U relativă 30%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14800"/>
          <a:ext cx="67665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2743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Rezultat</a:t>
                      </a:r>
                      <a:endParaRPr lang="en-US" sz="15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Rezultat − U</a:t>
                      </a:r>
                      <a:endParaRPr lang="en-US" sz="15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Decizie</a:t>
                      </a:r>
                      <a:endParaRPr lang="en-US" sz="15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15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6,3</a:t>
                      </a:r>
                      <a:endParaRPr lang="en-US" sz="15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Conform</a:t>
                      </a:r>
                      <a:endParaRPr lang="en-US" sz="15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US" sz="15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8,4</a:t>
                      </a:r>
                      <a:endParaRPr lang="en-US" sz="15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În limita incertitudinii</a:t>
                      </a:r>
                      <a:endParaRPr lang="en-US" sz="15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sz="15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11,2</a:t>
                      </a:r>
                      <a:endParaRPr lang="en-US" sz="15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Neconform</a:t>
                      </a:r>
                      <a:endParaRPr lang="en-US" sz="15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7680960" y="4114800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Recuperarea, U și LOQ sunt date de intrare ale laboratorului (din validarea metodei). Aplicația nu propune valori.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Loturi cu mai multe probe de laborator</a:t>
            </a:r>
            <a:endParaRPr lang="en-US" sz="3400" dirty="0"/>
          </a:p>
        </p:txBody>
      </p:sp>
      <p:pic>
        <p:nvPicPr>
          <p:cNvPr id="3" name="Image 0" descr="Fila Laborator: constituirea unui l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6949440" cy="390906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7863840" y="1463040"/>
            <a:ext cx="37490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Pentru smochine, nuci și mirodenii cu particule mari, regulamentul decide pe lot.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Două moduri: nicio probă peste limită, sau media probelor.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Lot de 2–10 probe ale aceluiași beneficiar, fără probe de control; se îngheață la prima validare.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Beneficiarul vede decizia de lot numai când este finală.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4864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Modul de lot ales pe produs aparține laboratorului.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Integritatea datelor: ce acoperim și ce nu</a:t>
            </a:r>
            <a:endParaRPr lang="en-US" sz="3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4572000"/>
                <a:gridCol w="557784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Nivel</a:t>
                      </a:r>
                      <a:endParaRPr lang="en-US" sz="1400" dirty="0"/>
                    </a:p>
                  </a:txBody>
                  <a:tcPr marL="137160" marR="137160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Amenințare</a:t>
                      </a:r>
                      <a:endParaRPr lang="en-US" sz="1400" dirty="0"/>
                    </a:p>
                  </a:txBody>
                  <a:tcPr marL="137160" marR="137160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Stare</a:t>
                      </a:r>
                      <a:endParaRPr lang="en-US" sz="1400" dirty="0"/>
                    </a:p>
                  </a:txBody>
                  <a:tcPr marL="137160" marR="137160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N0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Eroare accidentală (valoare sau buletin greșit)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Acoperit: versiuni cu motiv, retragere/înlocuire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N1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Utilizator obișnuit modifică înregistrări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Acoperit: roluri pe server, separarea sarcinilor, jurnal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N2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Acces la fișierul bazei de date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Acoperit condiționat: declanșatoare SQLite, lanț SHA-256, rezumat exportat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N3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Insider cu acces la bază și la copii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Neacoperit: cere ancorare externă sau semnare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0292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Lanțul de amprente dovedește nemodificarea, nu valabilitatea datelor. Rezumatul se exportă periodic, se semnează și se arhivează pe alt suport.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Verificarea publică a buletinului</a:t>
            </a:r>
            <a:endParaRPr lang="en-US" sz="3400" dirty="0"/>
          </a:p>
        </p:txBody>
      </p:sp>
      <p:pic>
        <p:nvPicPr>
          <p:cNvPr id="3" name="Image 0" descr="Pagina de verificare: buletin autenti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2331720" cy="4544568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pic>
      <p:pic>
        <p:nvPicPr>
          <p:cNvPr id="4" name="Image 1" descr="Pagina de verificare: buletin retra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1371600"/>
            <a:ext cx="2331720" cy="4544568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pic>
      <p:pic>
        <p:nvPicPr>
          <p:cNvPr id="5" name="Image 2" descr="Pagina de verificare: buletin înlocui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371600"/>
            <a:ext cx="2331720" cy="4544568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pic>
      <p:sp>
        <p:nvSpPr>
          <p:cNvPr id="6" name="Text 1"/>
          <p:cNvSpPr txBox="1"/>
          <p:nvPr/>
        </p:nvSpPr>
        <p:spPr>
          <a:xfrm>
            <a:off x="8321040" y="1463040"/>
            <a:ext cx="32918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Codul QR conține numărul buletinului și o amprentă scurtă (16 caractere).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Stări: autentic, modificat, lipsă, neverificabil; plus retras și înlocuit.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Pagina nu expune valorile analitice.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Securitate: aplicația și laboratorul</a:t>
            </a:r>
            <a:endParaRPr lang="en-US" sz="3400" dirty="0"/>
          </a:p>
        </p:txBody>
      </p:sp>
      <p:sp>
        <p:nvSpPr>
          <p:cNvPr id="3" name="Card Ce face aplicația"/>
          <p:cNvSpPr/>
          <p:nvPr/>
        </p:nvSpPr>
        <p:spPr>
          <a:xfrm>
            <a:off x="548640" y="1463040"/>
            <a:ext cx="5394960" cy="4297680"/>
          </a:xfrm>
          <a:prstGeom prst="roundRect">
            <a:avLst>
              <a:gd name="adj" fmla="val 17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face aplicația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48840"/>
            <a:ext cx="49377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Refuză pornirea în producție fără secret de sesiune valid; cookie „Secure” și HSTS; protecție CSRF; blocare pe cont după 10 încercări; jurnal de securitate; parolă temporară cu schimbare obligatorie; copii criptate AES-256-GCM.</a:t>
            </a:r>
            <a:endParaRPr lang="en-US" sz="1800" dirty="0"/>
          </a:p>
        </p:txBody>
      </p:sp>
      <p:sp>
        <p:nvSpPr>
          <p:cNvPr id="6" name="Card Ce rămâne laboratorului"/>
          <p:cNvSpPr/>
          <p:nvPr/>
        </p:nvSpPr>
        <p:spPr>
          <a:xfrm>
            <a:off x="6217920" y="1463040"/>
            <a:ext cx="5394960" cy="4297680"/>
          </a:xfrm>
          <a:prstGeom prst="roundRect">
            <a:avLst>
              <a:gd name="adj" fmla="val 17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645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rămâne laboratorului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2148840"/>
            <a:ext cx="49377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HTTPS pe serverul real; păstrarea secretelor; politica de parole a instituției; actualizările sistemului; copii în afara serverului; validarea software pentru utilizarea intenționată. Fără semnătură electronică calificată, autentificare în doi pași sau test de penetrare.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Distribuție: licență deschisă și instalare în trei pași</a:t>
            </a:r>
            <a:endParaRPr lang="en-US" sz="3400" dirty="0"/>
          </a:p>
        </p:txBody>
      </p:sp>
      <p:sp>
        <p:nvSpPr>
          <p:cNvPr id="3" name="Card 1. Pregătire"/>
          <p:cNvSpPr/>
          <p:nvPr/>
        </p:nvSpPr>
        <p:spPr>
          <a:xfrm>
            <a:off x="548640" y="1463040"/>
            <a:ext cx="356616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Pregătire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4884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cp docker/env.example .env</a:t>
            </a:r>
            <a:endParaRPr lang="en-US" sz="1700" dirty="0"/>
          </a:p>
        </p:txBody>
      </p:sp>
      <p:sp>
        <p:nvSpPr>
          <p:cNvPr id="6" name="Card 2. Pornire"/>
          <p:cNvSpPr/>
          <p:nvPr/>
        </p:nvSpPr>
        <p:spPr>
          <a:xfrm>
            <a:off x="4297680" y="1463040"/>
            <a:ext cx="356616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26280" y="1645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Pornire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214884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docker compose up -d</a:t>
            </a:r>
            <a:endParaRPr lang="en-US" sz="1700" dirty="0"/>
          </a:p>
        </p:txBody>
      </p:sp>
      <p:sp>
        <p:nvSpPr>
          <p:cNvPr id="9" name="Card 3. Prima autentificare"/>
          <p:cNvSpPr/>
          <p:nvPr/>
        </p:nvSpPr>
        <p:spPr>
          <a:xfrm>
            <a:off x="8046720" y="1463040"/>
            <a:ext cx="356616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75320" y="1645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Prima autentificare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275320" y="214884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Parola temporară din jurnal, schimbată la prima intrare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8404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110</a:t>
            </a:r>
            <a:endParaRPr lang="en-US" sz="5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7548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dependențe de execuție, toate cu licențe permisive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297680" y="38404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AGPL-3.0</a:t>
            </a:r>
            <a:endParaRPr lang="en-US" sz="5400" dirty="0"/>
          </a:p>
        </p:txBody>
      </p:sp>
      <p:sp>
        <p:nvSpPr>
          <p:cNvPr id="15" name="Text 13"/>
          <p:cNvSpPr txBox="1"/>
          <p:nvPr/>
        </p:nvSpPr>
        <p:spPr>
          <a:xfrm>
            <a:off x="4297680" y="47548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cod deschis; modificările oferite în rețea rămân deschise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046720" y="38404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183</a:t>
            </a:r>
            <a:endParaRPr lang="en-US" sz="5400" dirty="0"/>
          </a:p>
        </p:txBody>
      </p:sp>
      <p:sp>
        <p:nvSpPr>
          <p:cNvPr id="17" name="Text 15"/>
          <p:cNvSpPr txBox="1"/>
          <p:nvPr/>
        </p:nvSpPr>
        <p:spPr>
          <a:xfrm>
            <a:off x="8046720" y="47548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teste automate trecute pe v1.55.0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am verificat și ce nu</a:t>
            </a:r>
            <a:endParaRPr lang="en-US" sz="3400" dirty="0"/>
          </a:p>
        </p:txBody>
      </p:sp>
      <p:sp>
        <p:nvSpPr>
          <p:cNvPr id="3" name="Card Verificat"/>
          <p:cNvSpPr/>
          <p:nvPr/>
        </p:nvSpPr>
        <p:spPr>
          <a:xfrm>
            <a:off x="548640" y="1463040"/>
            <a:ext cx="5394960" cy="4480560"/>
          </a:xfrm>
          <a:prstGeom prst="roundRect">
            <a:avLst>
              <a:gd name="adj" fmla="val 16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48840"/>
            <a:ext cx="49377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183 de teste automate pe baze temporare cu date inventate.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45 de verificări într-un browser fără interfață, pe scenariul din v1.54.0.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Regula 2023/2782, verificată pe textul oficial.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Imagine Docker construită și rulată (HTTPS, parolă temporară, copie criptată).</a:t>
            </a:r>
            <a:endParaRPr lang="en-US" sz="1700" dirty="0"/>
          </a:p>
        </p:txBody>
      </p:sp>
      <p:sp>
        <p:nvSpPr>
          <p:cNvPr id="6" name="Card Neverificat"/>
          <p:cNvSpPr/>
          <p:nvPr/>
        </p:nvSpPr>
        <p:spPr>
          <a:xfrm>
            <a:off x="6217920" y="1463040"/>
            <a:ext cx="5394960" cy="4480560"/>
          </a:xfrm>
          <a:prstGeom prst="roundRect">
            <a:avLst>
              <a:gd name="adj" fmla="val 16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645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Neverificat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2148840"/>
            <a:ext cx="49377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Evaluare cu personal de laborator.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Comparație cu practica pe foi de calcul.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Măsurători de performanță.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Date reale și test de penetrare.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Validarea și acreditarea metodei și a software-ului.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Cum puteți participa la pilot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67665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Rulați instanța demo și parcurgeți ghidul de utilizare (RO/EN).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Completați lista de verificare și șablonul de validare din documentația proiectului.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Introduceți valorile laboratorului: incertitudini, recuperări, intervale QC, retenție.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Raportați defecte și lipsuri; confirmați limitele pe versiunea consolidată a regulamentului.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Rulați mai întâi fără date reale; apoi pilot controlat, în rețea internă.</a:t>
            </a:r>
            <a:endParaRPr lang="en-US" sz="1700" dirty="0"/>
          </a:p>
        </p:txBody>
      </p:sp>
      <p:sp>
        <p:nvSpPr>
          <p:cNvPr id="4" name="Card Materiale"/>
          <p:cNvSpPr/>
          <p:nvPr/>
        </p:nvSpPr>
        <p:spPr>
          <a:xfrm>
            <a:off x="7680960" y="1463040"/>
            <a:ext cx="393192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909560" y="16459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909560" y="2148840"/>
            <a:ext cx="3474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Ghid RO/EN, DISTRIBUTIE.md, lista de verificare, șablon de validare, index al testelor.</a:t>
            </a:r>
            <a:endParaRPr lang="en-US" sz="1600" dirty="0"/>
          </a:p>
        </p:txBody>
      </p:sp>
      <p:sp>
        <p:nvSpPr>
          <p:cNvPr id="7" name="Card Contact"/>
          <p:cNvSpPr/>
          <p:nvPr/>
        </p:nvSpPr>
        <p:spPr>
          <a:xfrm>
            <a:off x="7680960" y="3840480"/>
            <a:ext cx="393192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09560" y="40233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Contact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909560" y="452628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[de completat: adresă de contact]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[de completat: adresa depozitului de cod]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gistru Micotoxine">
  <a:themeElements>
    <a:clrScheme name="Registru Micotoxine">
      <a:dk1>
        <a:srgbClr val="14231E"/>
      </a:dk1>
      <a:lt1>
        <a:srgbClr val="FFFFFF"/>
      </a:lt1>
      <a:dk2>
        <a:srgbClr val="235C47"/>
      </a:dk2>
      <a:lt2>
        <a:srgbClr val="EEF3F0"/>
      </a:lt2>
      <a:accent1>
        <a:srgbClr val="235C47"/>
      </a:accent1>
      <a:accent2>
        <a:srgbClr val="B45309"/>
      </a:accent2>
      <a:accent3>
        <a:srgbClr val="2F6F8F"/>
      </a:accent3>
      <a:accent4>
        <a:srgbClr val="6B7F76"/>
      </a:accent4>
      <a:accent5>
        <a:srgbClr val="A23B3B"/>
      </a:accent5>
      <a:accent6>
        <a:srgbClr val="7A8F2E"/>
      </a:accent6>
      <a:hlink>
        <a:srgbClr val="2F6F8F"/>
      </a:hlink>
      <a:folHlink>
        <a:srgbClr val="6B7F76"/>
      </a:folHlink>
    </a:clrScheme>
    <a:fontScheme name="Registru Micotoxin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Registru Micotoxine — prezentare de workshop</dc:title>
  <dc:subject>PptxGenJS Presentation</dc:subject>
  <dc:creator>[de completat]</dc:creator>
  <cp:lastModifiedBy>[de completat]</cp:lastModifiedBy>
  <cp:revision>1</cp:revision>
  <dcterms:created xsi:type="dcterms:W3CDTF">2026-10-29T19:16:34Z</dcterms:created>
  <dcterms:modified xsi:type="dcterms:W3CDTF">2026-10-29T19:16:34Z</dcterms:modified>
</cp:coreProperties>
</file>